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campaign-strategy review, not a data dump. The argument: the last five campaigns should not be the template for the next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asks who responded. The question worth paying for is whether the next campaign should look like the last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claim. The campaign engine sends one message to everyone. But the base is not uniform — and the gaps are large enough to move budget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40-49 bracket is the largest and least responsive at 16.4%. The 18-29 bracket is the smallest and converts at 32.6% — double. Budget is flowing to volume, not propensity.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Kids collapse browsing behaviour. Catalog and store use drop; deal use more than doubles. Catalog mailed to a family is mostly wasted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Wine scales ~60x with income and works as an income proxy. Below 30k, meat outspends wine — the only bracket where necessity beats discretionary. Premium wine offers there just generate irritation.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moves, ordered by implementation cost. None needs new data — every field already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cost of the current approach is invisible because it shows up as mediocre average acceptance, not a line item. That is exactly why segment-level analysis is worth running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8250" y="1277938"/>
            <a:ext cx="495300" cy="2857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885950" y="1143000"/>
            <a:ext cx="4633842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96" kern="0" dirty="0">
                <a:solidFill>
                  <a:srgbClr val="93B4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CAMPAIGN STRATEGY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3079552"/>
            <a:ext cx="11523646" cy="2502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900" b="1" spc="-29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 wine to the wrong room</a:t>
            </a:r>
            <a:endParaRPr lang="en-US" sz="9900" dirty="0"/>
          </a:p>
        </p:txBody>
      </p:sp>
      <p:sp>
        <p:nvSpPr>
          <p:cNvPr id="5" name="Text 3"/>
          <p:cNvSpPr/>
          <p:nvPr/>
        </p:nvSpPr>
        <p:spPr>
          <a:xfrm>
            <a:off x="1238250" y="5962849"/>
            <a:ext cx="6592722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000" dirty="0">
                <a:solidFill>
                  <a:srgbClr val="93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iFood's campaign budget found the customers least likely to say yes.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238250" y="8591550"/>
            <a:ext cx="15811500" cy="9525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8883650"/>
            <a:ext cx="2059811" cy="298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54" kern="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David Kamande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9905" y="8883650"/>
            <a:ext cx="2218283" cy="298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54" kern="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 · Kaggle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65627" y="8883650"/>
            <a:ext cx="4594930" cy="298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54" kern="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2,205 customers · 5 campaigns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2832894"/>
            <a:ext cx="173926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STARTING POINT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3550444"/>
            <a:ext cx="10476041" cy="1903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7200" b="1" spc="-180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campaigns went out. Most customers said no.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238250" y="6082507"/>
            <a:ext cx="706374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question is </a:t>
            </a:r>
            <a:pPr algn="l" indent="0" marL="0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responded 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data answers it easily — demographics, household, income, spend, channel.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667750" y="6082507"/>
            <a:ext cx="706374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a manager actually pays for is different: </a:t>
            </a:r>
            <a:pPr algn="l" indent="0" marL="0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the next campaign look like the last five? 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argues it shouldn't.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2358033"/>
            <a:ext cx="173926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93B4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3132733"/>
            <a:ext cx="11523646" cy="28542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treats the customer base as </a:t>
            </a:r>
            <a:pPr algn="l" indent="0" marL="0">
              <a:lnSpc>
                <a:spcPct val="112000"/>
              </a:lnSpc>
              <a:buNone/>
            </a:pPr>
            <a:r>
              <a:rPr lang="en-US" sz="6600" b="1" spc="-132" kern="0" dirty="0">
                <a:solidFill>
                  <a:srgbClr val="93B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</a:t>
            </a:r>
            <a:pPr algn="l" indent="0" marL="0">
              <a:lnSpc>
                <a:spcPct val="112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base is anything but.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238250" y="6520359"/>
            <a:ext cx="7471806" cy="14466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93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findings expose the same problem from three angles — and each one points to budget that could work harder somewhere else.</a:t>
            </a:r>
            <a:endParaRPr lang="en-US" sz="2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914400"/>
            <a:ext cx="2157601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797036" y="958850"/>
            <a:ext cx="4677986" cy="298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 campaigns accepted, by 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447800"/>
            <a:ext cx="9428437" cy="14644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400" b="1" spc="-108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segment is the coldest audience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700907" y="3394571"/>
            <a:ext cx="59531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0.55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238250" y="3813671"/>
            <a:ext cx="1444526" cy="510807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3450233" y="5004792"/>
            <a:ext cx="59531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0.38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987576" y="5423892"/>
            <a:ext cx="1444526" cy="349785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9" name="Text 7"/>
          <p:cNvSpPr/>
          <p:nvPr/>
        </p:nvSpPr>
        <p:spPr>
          <a:xfrm>
            <a:off x="5199559" y="5448895"/>
            <a:ext cx="59531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4736902" y="5867995"/>
            <a:ext cx="1444526" cy="3053755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1" name="Text 9"/>
          <p:cNvSpPr/>
          <p:nvPr/>
        </p:nvSpPr>
        <p:spPr>
          <a:xfrm>
            <a:off x="6948885" y="5893098"/>
            <a:ext cx="59531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0.28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486227" y="6312198"/>
            <a:ext cx="1444526" cy="260955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3" name="Text 11"/>
          <p:cNvSpPr/>
          <p:nvPr/>
        </p:nvSpPr>
        <p:spPr>
          <a:xfrm>
            <a:off x="8698210" y="6243638"/>
            <a:ext cx="59531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0.24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235553" y="6662738"/>
            <a:ext cx="1444526" cy="2259013"/>
          </a:xfrm>
          <a:prstGeom prst="rect">
            <a:avLst/>
          </a:prstGeom>
          <a:solidFill>
            <a:srgbClr val="E5B4B4"/>
          </a:solidFill>
          <a:ln/>
        </p:spPr>
      </p:sp>
      <p:sp>
        <p:nvSpPr>
          <p:cNvPr id="15" name="Shape 13"/>
          <p:cNvSpPr/>
          <p:nvPr/>
        </p:nvSpPr>
        <p:spPr>
          <a:xfrm>
            <a:off x="8235553" y="6662738"/>
            <a:ext cx="1444526" cy="3810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6" name="Text 14"/>
          <p:cNvSpPr/>
          <p:nvPr/>
        </p:nvSpPr>
        <p:spPr>
          <a:xfrm>
            <a:off x="1166024" y="9074150"/>
            <a:ext cx="158897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18–29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915349" y="9074150"/>
            <a:ext cx="158897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30–39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64675" y="9074150"/>
            <a:ext cx="158897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60+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14001" y="9074150"/>
            <a:ext cx="158897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50–59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163327" y="9074150"/>
            <a:ext cx="158897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40–49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442079" y="3369469"/>
            <a:ext cx="9525" cy="6003131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11019930" y="4851797"/>
            <a:ext cx="1471325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750" b="1" spc="-292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</a:t>
            </a:r>
            <a:endParaRPr lang="en-US" sz="9750" dirty="0"/>
          </a:p>
        </p:txBody>
      </p:sp>
      <p:sp>
        <p:nvSpPr>
          <p:cNvPr id="23" name="Text 21"/>
          <p:cNvSpPr/>
          <p:nvPr/>
        </p:nvSpPr>
        <p:spPr>
          <a:xfrm>
            <a:off x="11019930" y="6232922"/>
            <a:ext cx="6210716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youngest cohort converts at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32.6%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double the largest segment's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16.4%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Every pound moved from the middle bracket to the youngest roughly doubles its return.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914400"/>
            <a:ext cx="2157601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973918" y="958850"/>
            <a:ext cx="5583417" cy="298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 purchases by channel &amp; household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447800"/>
            <a:ext cx="17392650" cy="751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400" b="1" spc="-108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change the channel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565176" y="4642247"/>
            <a:ext cx="558205" cy="317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4.71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1357709" y="5016897"/>
            <a:ext cx="896938" cy="3396853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2671663" y="6714927"/>
            <a:ext cx="558205" cy="317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1.82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2464197" y="7089577"/>
            <a:ext cx="896938" cy="132417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9" name="Text 7"/>
          <p:cNvSpPr/>
          <p:nvPr/>
        </p:nvSpPr>
        <p:spPr>
          <a:xfrm>
            <a:off x="4664869" y="2742307"/>
            <a:ext cx="558205" cy="317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7.32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4457402" y="3116957"/>
            <a:ext cx="896938" cy="5296793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5771356" y="4124027"/>
            <a:ext cx="558205" cy="317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5.45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5563890" y="4498677"/>
            <a:ext cx="896938" cy="3915073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3" name="Text 11"/>
          <p:cNvSpPr/>
          <p:nvPr/>
        </p:nvSpPr>
        <p:spPr>
          <a:xfrm>
            <a:off x="7764562" y="7233146"/>
            <a:ext cx="558205" cy="317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7557096" y="7607796"/>
            <a:ext cx="896938" cy="80595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5" name="Text 13"/>
          <p:cNvSpPr/>
          <p:nvPr/>
        </p:nvSpPr>
        <p:spPr>
          <a:xfrm>
            <a:off x="8871049" y="6024067"/>
            <a:ext cx="558205" cy="317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2.79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8663583" y="6398716"/>
            <a:ext cx="896938" cy="201503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1126128" y="8566150"/>
            <a:ext cx="2466687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225821" y="8566150"/>
            <a:ext cx="2466687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25514" y="8566150"/>
            <a:ext cx="2466687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38250" y="9166225"/>
            <a:ext cx="152400" cy="152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1485900" y="9112250"/>
            <a:ext cx="1585218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children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375918" y="9166225"/>
            <a:ext cx="152400" cy="1524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3" name="Text 21"/>
          <p:cNvSpPr/>
          <p:nvPr/>
        </p:nvSpPr>
        <p:spPr>
          <a:xfrm>
            <a:off x="3623568" y="9112250"/>
            <a:ext cx="1722438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 children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442079" y="2656284"/>
            <a:ext cx="9525" cy="67163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3"/>
          <p:cNvSpPr/>
          <p:nvPr/>
        </p:nvSpPr>
        <p:spPr>
          <a:xfrm>
            <a:off x="11019930" y="4647109"/>
            <a:ext cx="6210716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Browsing takes time — the first thing that vanishes when children arrive. Price sensitivity replaces it. So a catalog mailed to a family is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wasted print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while deal-led offers already have their audience raising a hand.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019930" y="7023596"/>
            <a:ext cx="6632804" cy="396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has-children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is already in the CRM.</a:t>
            </a:r>
            <a:endParaRPr lang="en-US" sz="1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914400"/>
            <a:ext cx="2157601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25238" y="958850"/>
            <a:ext cx="6186964" cy="298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Avg. spend — wine vs. meat, by income ($)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447800"/>
            <a:ext cx="17392650" cy="751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400" b="1" spc="-108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 is the income signal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478856" y="8062218"/>
            <a:ext cx="293390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1293217" y="8373368"/>
            <a:ext cx="588466" cy="11658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2181622" y="7965778"/>
            <a:ext cx="293390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995984" y="8276927"/>
            <a:ext cx="588466" cy="213023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9" name="Shape 7"/>
          <p:cNvSpPr/>
          <p:nvPr/>
        </p:nvSpPr>
        <p:spPr>
          <a:xfrm>
            <a:off x="1995984" y="8276927"/>
            <a:ext cx="588466" cy="3810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0" name="Text 8"/>
          <p:cNvSpPr/>
          <p:nvPr/>
        </p:nvSpPr>
        <p:spPr>
          <a:xfrm>
            <a:off x="3299222" y="7537153"/>
            <a:ext cx="293390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</a:t>
            </a:r>
            <a:endParaRPr lang="en-US" sz="1425" dirty="0"/>
          </a:p>
        </p:txBody>
      </p:sp>
      <p:sp>
        <p:nvSpPr>
          <p:cNvPr id="11" name="Shape 9"/>
          <p:cNvSpPr/>
          <p:nvPr/>
        </p:nvSpPr>
        <p:spPr>
          <a:xfrm>
            <a:off x="3113584" y="7848302"/>
            <a:ext cx="588566" cy="6416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4002088" y="7887196"/>
            <a:ext cx="293390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425" dirty="0"/>
          </a:p>
        </p:txBody>
      </p:sp>
      <p:sp>
        <p:nvSpPr>
          <p:cNvPr id="13" name="Shape 11"/>
          <p:cNvSpPr/>
          <p:nvPr/>
        </p:nvSpPr>
        <p:spPr>
          <a:xfrm>
            <a:off x="3816449" y="8198346"/>
            <a:ext cx="588566" cy="29160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4" name="Text 12"/>
          <p:cNvSpPr/>
          <p:nvPr/>
        </p:nvSpPr>
        <p:spPr>
          <a:xfrm>
            <a:off x="5065316" y="5203726"/>
            <a:ext cx="402034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431</a:t>
            </a:r>
            <a:endParaRPr lang="en-US" sz="1425" dirty="0"/>
          </a:p>
        </p:txBody>
      </p:sp>
      <p:sp>
        <p:nvSpPr>
          <p:cNvPr id="15" name="Shape 13"/>
          <p:cNvSpPr/>
          <p:nvPr/>
        </p:nvSpPr>
        <p:spPr>
          <a:xfrm>
            <a:off x="4934049" y="5514876"/>
            <a:ext cx="588466" cy="297507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5768082" y="7012087"/>
            <a:ext cx="402034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167</a:t>
            </a:r>
            <a:endParaRPr lang="en-US" sz="1425" dirty="0"/>
          </a:p>
        </p:txBody>
      </p:sp>
      <p:sp>
        <p:nvSpPr>
          <p:cNvPr id="17" name="Shape 15"/>
          <p:cNvSpPr/>
          <p:nvPr/>
        </p:nvSpPr>
        <p:spPr>
          <a:xfrm>
            <a:off x="5636816" y="7323237"/>
            <a:ext cx="588466" cy="1166713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8" name="Text 16"/>
          <p:cNvSpPr/>
          <p:nvPr/>
        </p:nvSpPr>
        <p:spPr>
          <a:xfrm>
            <a:off x="6885781" y="3803551"/>
            <a:ext cx="402034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634</a:t>
            </a:r>
            <a:endParaRPr lang="en-US" sz="1425" dirty="0"/>
          </a:p>
        </p:txBody>
      </p:sp>
      <p:sp>
        <p:nvSpPr>
          <p:cNvPr id="19" name="Shape 17"/>
          <p:cNvSpPr/>
          <p:nvPr/>
        </p:nvSpPr>
        <p:spPr>
          <a:xfrm>
            <a:off x="6754416" y="4114701"/>
            <a:ext cx="588566" cy="437524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7588647" y="5261967"/>
            <a:ext cx="402034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425</a:t>
            </a:r>
            <a:endParaRPr lang="en-US" sz="1425" dirty="0"/>
          </a:p>
        </p:txBody>
      </p:sp>
      <p:sp>
        <p:nvSpPr>
          <p:cNvPr id="21" name="Shape 19"/>
          <p:cNvSpPr/>
          <p:nvPr/>
        </p:nvSpPr>
        <p:spPr>
          <a:xfrm>
            <a:off x="7457281" y="5573117"/>
            <a:ext cx="588566" cy="2916833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2" name="Text 20"/>
          <p:cNvSpPr/>
          <p:nvPr/>
        </p:nvSpPr>
        <p:spPr>
          <a:xfrm>
            <a:off x="8706247" y="2656284"/>
            <a:ext cx="402034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821</a:t>
            </a:r>
            <a:endParaRPr lang="en-US" sz="1425" dirty="0"/>
          </a:p>
        </p:txBody>
      </p:sp>
      <p:sp>
        <p:nvSpPr>
          <p:cNvPr id="23" name="Shape 21"/>
          <p:cNvSpPr/>
          <p:nvPr/>
        </p:nvSpPr>
        <p:spPr>
          <a:xfrm>
            <a:off x="8574881" y="2967435"/>
            <a:ext cx="588566" cy="55225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13" y="4095254"/>
            <a:ext cx="402034" cy="273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599</a:t>
            </a:r>
            <a:endParaRPr lang="en-US" sz="1425" dirty="0"/>
          </a:p>
        </p:txBody>
      </p:sp>
      <p:sp>
        <p:nvSpPr>
          <p:cNvPr id="25" name="Shape 23"/>
          <p:cNvSpPr/>
          <p:nvPr/>
        </p:nvSpPr>
        <p:spPr>
          <a:xfrm>
            <a:off x="9277747" y="4406404"/>
            <a:ext cx="588566" cy="408354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6" name="Text 24"/>
          <p:cNvSpPr/>
          <p:nvPr/>
        </p:nvSpPr>
        <p:spPr>
          <a:xfrm>
            <a:off x="1168187" y="8642350"/>
            <a:ext cx="1541393" cy="260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&lt;30k</a:t>
            </a:r>
            <a:endParaRPr lang="en-US" sz="1575" dirty="0"/>
          </a:p>
        </p:txBody>
      </p:sp>
      <p:sp>
        <p:nvSpPr>
          <p:cNvPr id="27" name="Text 25"/>
          <p:cNvSpPr/>
          <p:nvPr/>
        </p:nvSpPr>
        <p:spPr>
          <a:xfrm>
            <a:off x="2988548" y="8642350"/>
            <a:ext cx="1541502" cy="260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30–50k</a:t>
            </a:r>
            <a:endParaRPr lang="en-US" sz="1575" dirty="0"/>
          </a:p>
        </p:txBody>
      </p:sp>
      <p:sp>
        <p:nvSpPr>
          <p:cNvPr id="28" name="Text 26"/>
          <p:cNvSpPr/>
          <p:nvPr/>
        </p:nvSpPr>
        <p:spPr>
          <a:xfrm>
            <a:off x="4809019" y="8642350"/>
            <a:ext cx="1541393" cy="260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50–70k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6629380" y="8642350"/>
            <a:ext cx="1541502" cy="260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70–90k</a:t>
            </a:r>
            <a:endParaRPr lang="en-US" sz="1575" dirty="0"/>
          </a:p>
        </p:txBody>
      </p:sp>
      <p:sp>
        <p:nvSpPr>
          <p:cNvPr id="30" name="Text 28"/>
          <p:cNvSpPr/>
          <p:nvPr/>
        </p:nvSpPr>
        <p:spPr>
          <a:xfrm>
            <a:off x="8449846" y="8642350"/>
            <a:ext cx="1541502" cy="260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90k+</a:t>
            </a:r>
            <a:endParaRPr lang="en-US" sz="1575" dirty="0"/>
          </a:p>
        </p:txBody>
      </p:sp>
      <p:sp>
        <p:nvSpPr>
          <p:cNvPr id="31" name="Shape 29"/>
          <p:cNvSpPr/>
          <p:nvPr/>
        </p:nvSpPr>
        <p:spPr>
          <a:xfrm>
            <a:off x="1238250" y="9166225"/>
            <a:ext cx="152400" cy="152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1485900" y="9112250"/>
            <a:ext cx="624979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2415679" y="9166225"/>
            <a:ext cx="152400" cy="1524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4" name="Text 32"/>
          <p:cNvSpPr/>
          <p:nvPr/>
        </p:nvSpPr>
        <p:spPr>
          <a:xfrm>
            <a:off x="2663329" y="9112250"/>
            <a:ext cx="624979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Meat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3593108" y="9147175"/>
            <a:ext cx="152400" cy="190500"/>
          </a:xfrm>
          <a:prstGeom prst="rect">
            <a:avLst/>
          </a:prstGeom>
          <a:solidFill>
            <a:srgbClr val="E5B4B4"/>
          </a:solidFill>
          <a:ln/>
        </p:spPr>
      </p:sp>
      <p:sp>
        <p:nvSpPr>
          <p:cNvPr id="36" name="Shape 34"/>
          <p:cNvSpPr/>
          <p:nvPr/>
        </p:nvSpPr>
        <p:spPr>
          <a:xfrm>
            <a:off x="3593108" y="9147175"/>
            <a:ext cx="152400" cy="3810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758" y="9112250"/>
            <a:ext cx="1585218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Meat &gt; wine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0683280" y="2656284"/>
            <a:ext cx="9525" cy="67163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7"/>
          <p:cNvSpPr/>
          <p:nvPr/>
        </p:nvSpPr>
        <p:spPr>
          <a:xfrm>
            <a:off x="11261130" y="4580930"/>
            <a:ext cx="6367483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50" b="1" spc="-247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~60×</a:t>
            </a:r>
            <a:endParaRPr lang="en-US" sz="8250" dirty="0"/>
          </a:p>
        </p:txBody>
      </p:sp>
      <p:sp>
        <p:nvSpPr>
          <p:cNvPr id="40" name="Text 38"/>
          <p:cNvSpPr/>
          <p:nvPr/>
        </p:nvSpPr>
        <p:spPr>
          <a:xfrm>
            <a:off x="11261130" y="5790605"/>
            <a:ext cx="5962279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 scales nearly sixtyfold across income — a clean income proxy. But below $30k,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meat outspends wine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Those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370 customers (≈17%)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for the table, not the cellar.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1047750"/>
            <a:ext cx="173926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93B4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I'D TELL THE MARKETING MANAGER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593850"/>
            <a:ext cx="9930319" cy="14515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5250" b="1" spc="-10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problem, three angles. Three moves, by cost.</a:t>
            </a:r>
            <a:endParaRPr lang="en-US" sz="5250" dirty="0"/>
          </a:p>
        </p:txBody>
      </p:sp>
      <p:sp>
        <p:nvSpPr>
          <p:cNvPr id="4" name="Shape 2"/>
          <p:cNvSpPr/>
          <p:nvPr/>
        </p:nvSpPr>
        <p:spPr>
          <a:xfrm>
            <a:off x="1238250" y="3616921"/>
            <a:ext cx="5016500" cy="562233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5" name="Shape 3"/>
          <p:cNvSpPr/>
          <p:nvPr/>
        </p:nvSpPr>
        <p:spPr>
          <a:xfrm>
            <a:off x="1238250" y="3616921"/>
            <a:ext cx="501650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619250" y="4074121"/>
            <a:ext cx="46799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3B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19250" y="4721821"/>
            <a:ext cx="4679950" cy="443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50" b="1" spc="-2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audiences by age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619250" y="5317629"/>
            <a:ext cx="4382135" cy="1092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93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budget toward 18–29, where conversion runs at twice the middle bracket's rate.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635750" y="3616921"/>
            <a:ext cx="5016500" cy="562233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10" name="Shape 8"/>
          <p:cNvSpPr/>
          <p:nvPr/>
        </p:nvSpPr>
        <p:spPr>
          <a:xfrm>
            <a:off x="6635750" y="3616921"/>
            <a:ext cx="501650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7016750" y="4074121"/>
            <a:ext cx="46799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3B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016750" y="4721821"/>
            <a:ext cx="4679950" cy="443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50" b="1" spc="-2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catalog on children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7016750" y="5317629"/>
            <a:ext cx="4382135" cy="1092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93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mailing catalogs to family households. Route them to deal-led offers instead.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033250" y="3616921"/>
            <a:ext cx="5016500" cy="562233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33250" y="3616921"/>
            <a:ext cx="501650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12414250" y="4074121"/>
            <a:ext cx="46799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3B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414250" y="4721821"/>
            <a:ext cx="4679950" cy="443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50" b="1" spc="-2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Value-tier the sub-$30k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2414250" y="5317629"/>
            <a:ext cx="4382135" cy="1092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93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value-range campaign — and exclude the segment from premium wine promotions entirely.</a:t>
            </a:r>
            <a:endParaRPr lang="en-US" sz="1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1782663"/>
            <a:ext cx="173926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BOTTOM LINE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2500213"/>
            <a:ext cx="11043430" cy="18607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900" b="1" spc="-172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this needs new data.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38250" y="4780062"/>
            <a:ext cx="8218956" cy="2466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segmentation field already exists in the table. The cost of the current approach is invisible — it shows up as mediocre average acceptance, not a line item. Which is exactly why segment-level analysis is worth running before the next campaign ships.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1238250" y="7970937"/>
            <a:ext cx="158115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8282087"/>
            <a:ext cx="1716564" cy="260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0E17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David Kamande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3217863" y="8282087"/>
            <a:ext cx="3433018" cy="260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· Tableau Public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6757889" y="8282087"/>
            <a:ext cx="3300958" cy="260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 · github.com/ngatho1</a:t>
            </a:r>
            <a:endParaRPr lang="en-US" sz="15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2026-07-04T12:20:33Z</dcterms:created>
  <dcterms:modified xsi:type="dcterms:W3CDTF">2026-07-04T12:20:33Z</dcterms:modified>
</cp:coreProperties>
</file>