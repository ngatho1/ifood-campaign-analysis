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6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7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campaign-strategy review, not a data dump. The argument: the last five campaigns should not be the template for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asks who responded. The question worth paying for is whether the next campaign should look like the last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claim. The campaign engine sends one message to everyone. But the base is not uniform — and the gaps are large enough to move budget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40-49 bracket is the largest and least responsive at 16.4%. The 18-29 bracket is the smallest and converts at 32.6% — double. Budget is flowing to volume, not propensity.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Kids collapse browsing behaviour. Catalog and store use drop; deal use more than doubles. Catalog mailed to a family is mostly wasted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Wine scales ~60x with income and works as an income proxy. Below 30k, meat outspends wine — the only bracket where necessity beats discretionary. Premium wine offers there just generate irritation.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moves, ordered by implementation cost. None needs new data — every field already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of the current approach is invisible because it shows up as mediocre average acceptance, not a line item. That is exactly why segment-level analysis is worth running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1277938"/>
            <a:ext cx="495300" cy="2857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885950" y="1143000"/>
            <a:ext cx="463384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93B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CAMPAIGN STRATEGY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3079552"/>
            <a:ext cx="11523646" cy="2502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900" b="1" kern="0" spc="-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wine to the wrong room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238250" y="5962849"/>
            <a:ext cx="6592722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dirty="0">
                <a:solidFill>
                  <a:srgbClr val="93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iFood's campaign budget found the customers least likely to say yes.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38250" y="8591550"/>
            <a:ext cx="15811500" cy="95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238250" y="8883650"/>
            <a:ext cx="2059811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David Kamande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29905" y="8883650"/>
            <a:ext cx="221828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iFood · Kaggle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65627" y="8883650"/>
            <a:ext cx="459493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5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2,205 customers · 5 campaigns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171133"/>
            <a:ext cx="173926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STARTING POINT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2757487"/>
            <a:ext cx="9807121" cy="3325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18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campaigns went out. Most customers said no.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38250" y="6082507"/>
            <a:ext cx="706374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obvious question is </a:t>
            </a:r>
            <a:r>
              <a:rPr lang="en-US" sz="24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responded 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data answers it easily — demographics, household, income, spend, channel.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67750" y="6082507"/>
            <a:ext cx="706374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a manager actually pays for is different: </a:t>
            </a:r>
            <a:r>
              <a:rPr lang="en-US" sz="24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the next campaign look like the last five? </a:t>
            </a: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argues it shouldn't.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358033"/>
            <a:ext cx="173926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93B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3132733"/>
            <a:ext cx="11523646" cy="2854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treats the customer base as </a:t>
            </a:r>
            <a:r>
              <a:rPr lang="en-US" sz="6600" b="1" kern="0" spc="-132" dirty="0">
                <a:solidFill>
                  <a:srgbClr val="93B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</a:t>
            </a: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base is anything but.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38250" y="6520359"/>
            <a:ext cx="7471806" cy="1446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93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findings expose the same problem from three angles — and each one points to budget that could work harder somewhere else.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215760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797036" y="958850"/>
            <a:ext cx="467798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 campaigns accepted, by 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447800"/>
            <a:ext cx="9428437" cy="146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8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segment is the coldest audience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00907" y="3394571"/>
            <a:ext cx="595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38250" y="3813671"/>
            <a:ext cx="1444526" cy="5108079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450233" y="5004792"/>
            <a:ext cx="595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987576" y="5423892"/>
            <a:ext cx="1444526" cy="349785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199559" y="5448895"/>
            <a:ext cx="595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736902" y="5867995"/>
            <a:ext cx="1444526" cy="305375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948885" y="5893098"/>
            <a:ext cx="595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86227" y="6312198"/>
            <a:ext cx="1444526" cy="260955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698210" y="6243638"/>
            <a:ext cx="595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235553" y="6662738"/>
            <a:ext cx="1444526" cy="2259013"/>
          </a:xfrm>
          <a:prstGeom prst="rect">
            <a:avLst/>
          </a:prstGeom>
          <a:solidFill>
            <a:srgbClr val="E5B4B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235553" y="6662738"/>
            <a:ext cx="1444526" cy="381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166024" y="9074150"/>
            <a:ext cx="15889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18–29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15349" y="9074150"/>
            <a:ext cx="15889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30–39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4675" y="9074150"/>
            <a:ext cx="15889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14001" y="9074150"/>
            <a:ext cx="15889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50–59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63327" y="9074150"/>
            <a:ext cx="158897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40–49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42079" y="3369469"/>
            <a:ext cx="9525" cy="600313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019930" y="4851797"/>
            <a:ext cx="147132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50" b="1" kern="0" spc="-292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9750" dirty="0"/>
          </a:p>
        </p:txBody>
      </p:sp>
      <p:sp>
        <p:nvSpPr>
          <p:cNvPr id="23" name="Text 21"/>
          <p:cNvSpPr/>
          <p:nvPr/>
        </p:nvSpPr>
        <p:spPr>
          <a:xfrm>
            <a:off x="11019930" y="6232922"/>
            <a:ext cx="6210716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youngest cohort converts at </a:t>
            </a:r>
            <a:r>
              <a:rPr lang="en-US" sz="2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32.6% </a:t>
            </a: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double the largest segment's </a:t>
            </a:r>
            <a:r>
              <a:rPr lang="en-US" sz="2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 </a:t>
            </a: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pound moved from the middle bracket to the youngest roughly doubles its return.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215760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973918" y="958850"/>
            <a:ext cx="558341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 purchases by channel &amp; household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447800"/>
            <a:ext cx="1739265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8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change the channel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565176" y="4642247"/>
            <a:ext cx="5582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4.71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357709" y="5016897"/>
            <a:ext cx="896938" cy="3396853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671663" y="6714927"/>
            <a:ext cx="5582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1.82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464197" y="7089577"/>
            <a:ext cx="896938" cy="132417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664869" y="2742307"/>
            <a:ext cx="5582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7.32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457402" y="3116957"/>
            <a:ext cx="896938" cy="5296793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771356" y="4124027"/>
            <a:ext cx="5582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5.45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563890" y="4498677"/>
            <a:ext cx="896938" cy="3915073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64562" y="7233146"/>
            <a:ext cx="5582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557096" y="7607796"/>
            <a:ext cx="896938" cy="80595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871049" y="6024067"/>
            <a:ext cx="55820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2.79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663583" y="6398716"/>
            <a:ext cx="896938" cy="201503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26128" y="8566150"/>
            <a:ext cx="246668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25821" y="8566150"/>
            <a:ext cx="246668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25514" y="8566150"/>
            <a:ext cx="246668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8250" y="9166225"/>
            <a:ext cx="152400" cy="152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485900" y="9112250"/>
            <a:ext cx="158521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children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375918" y="9166225"/>
            <a:ext cx="152400" cy="15240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23568" y="9112250"/>
            <a:ext cx="172243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 children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42079" y="2656284"/>
            <a:ext cx="9525" cy="67163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1019930" y="4647109"/>
            <a:ext cx="6210716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Browsing takes time — the first thing that vanishes when children arrive. Price sensitivity replaces it. So a catalog mailed to a family is </a:t>
            </a:r>
            <a:r>
              <a:rPr lang="en-US" sz="22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wasted print </a:t>
            </a: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while deal-led offers already have their audience raising a hand.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019930" y="7023596"/>
            <a:ext cx="6632804" cy="396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has-children </a:t>
            </a: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is already in the CRM.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215760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25238" y="958850"/>
            <a:ext cx="6186964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Avg. spend — wine vs. meat, by income ($)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447800"/>
            <a:ext cx="17392650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108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is the income signal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478856" y="8062218"/>
            <a:ext cx="29339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293217" y="8373368"/>
            <a:ext cx="588466" cy="11658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181622" y="7965778"/>
            <a:ext cx="29339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995984" y="8276927"/>
            <a:ext cx="588466" cy="21302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995984" y="8276927"/>
            <a:ext cx="588466" cy="381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99222" y="7537153"/>
            <a:ext cx="29339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3113584" y="7848302"/>
            <a:ext cx="588566" cy="6416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002088" y="7887196"/>
            <a:ext cx="29339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3816449" y="8198346"/>
            <a:ext cx="588566" cy="29160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65316" y="5203726"/>
            <a:ext cx="40203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431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4934049" y="5514876"/>
            <a:ext cx="588466" cy="297507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68082" y="7012087"/>
            <a:ext cx="40203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167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5636816" y="7323237"/>
            <a:ext cx="588466" cy="116671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85781" y="3803551"/>
            <a:ext cx="40203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6754416" y="4114701"/>
            <a:ext cx="588566" cy="4375249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588647" y="5261967"/>
            <a:ext cx="40203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425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7457281" y="5573117"/>
            <a:ext cx="588566" cy="291683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706247" y="2656284"/>
            <a:ext cx="40203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821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8574881" y="2967435"/>
            <a:ext cx="588566" cy="552251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409113" y="4095254"/>
            <a:ext cx="40203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599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277747" y="4406404"/>
            <a:ext cx="588566" cy="408354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168187" y="8642350"/>
            <a:ext cx="154139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&lt;30k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2988548" y="8642350"/>
            <a:ext cx="15415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30–50k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4809019" y="8642350"/>
            <a:ext cx="154139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50–70k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629380" y="8642350"/>
            <a:ext cx="15415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70–90k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8449846" y="8642350"/>
            <a:ext cx="15415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90k+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1238250" y="9166225"/>
            <a:ext cx="152400" cy="152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485900" y="9112250"/>
            <a:ext cx="62497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415679" y="9166225"/>
            <a:ext cx="152400" cy="1524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663329" y="9112250"/>
            <a:ext cx="624979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593108" y="9147175"/>
            <a:ext cx="152400" cy="190500"/>
          </a:xfrm>
          <a:prstGeom prst="rect">
            <a:avLst/>
          </a:prstGeom>
          <a:solidFill>
            <a:srgbClr val="E5B4B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593108" y="9147175"/>
            <a:ext cx="152400" cy="381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840758" y="9112250"/>
            <a:ext cx="1585218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Meat &gt; wine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683280" y="2656284"/>
            <a:ext cx="9525" cy="67163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1261130" y="4580930"/>
            <a:ext cx="6367483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250" b="1" kern="0" spc="-247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~60×</a:t>
            </a:r>
            <a:endParaRPr lang="en-US" sz="8250" dirty="0"/>
          </a:p>
        </p:txBody>
      </p:sp>
      <p:sp>
        <p:nvSpPr>
          <p:cNvPr id="40" name="Text 38"/>
          <p:cNvSpPr/>
          <p:nvPr/>
        </p:nvSpPr>
        <p:spPr>
          <a:xfrm>
            <a:off x="11261130" y="5790605"/>
            <a:ext cx="5962279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 scales nearly sixtyfold across income — a clean income proxy. But below $30k, </a:t>
            </a:r>
            <a:r>
              <a:rPr lang="en-US" sz="2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meat outspends wine</a:t>
            </a: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Those </a:t>
            </a:r>
            <a:r>
              <a:rPr lang="en-US" sz="22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370 customers (≈17%) </a:t>
            </a:r>
            <a:r>
              <a:rPr lang="en-US" sz="2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for the table, not the cellar.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173926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93B4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I'D TELL THE MARKETING MANAGER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593850"/>
            <a:ext cx="9930319" cy="1451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250" b="1" kern="0" spc="-10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problem, three angles. Three moves, by cost.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1238250" y="3616921"/>
            <a:ext cx="5016500" cy="562233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238250" y="3616921"/>
            <a:ext cx="5016500" cy="38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619250" y="4074121"/>
            <a:ext cx="46799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3B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19250" y="4721821"/>
            <a:ext cx="4679950" cy="443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50" b="1" kern="0" spc="-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audiences by age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619250" y="5317629"/>
            <a:ext cx="4382135" cy="1092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93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budget toward 18–29, where conversion runs at twice the middle bracket's rate.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635750" y="3616921"/>
            <a:ext cx="5016500" cy="562233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635750" y="3616921"/>
            <a:ext cx="5016500" cy="38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016750" y="4074121"/>
            <a:ext cx="46799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3B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16750" y="4721821"/>
            <a:ext cx="4679950" cy="443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50" b="1" kern="0" spc="-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catalog on children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7016750" y="5317629"/>
            <a:ext cx="4382135" cy="1092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93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mailing catalogs to family households. Route them to deal-led offers instead.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033250" y="3616921"/>
            <a:ext cx="5016500" cy="562233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2033250" y="3616921"/>
            <a:ext cx="5016500" cy="38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414250" y="4074121"/>
            <a:ext cx="46799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3B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414250" y="4721821"/>
            <a:ext cx="4679950" cy="443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50" b="1" kern="0" spc="-2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Value-tier the sub-$30k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2414250" y="5317629"/>
            <a:ext cx="4382135" cy="1092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950" dirty="0">
                <a:solidFill>
                  <a:srgbClr val="93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value-range campaign — and exclude the segment from premium wine promotions entirely.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782663"/>
            <a:ext cx="173926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BOTTOM 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2500213"/>
            <a:ext cx="11043430" cy="1860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900" b="1" kern="0" spc="-172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needs new data.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4780062"/>
            <a:ext cx="8218956" cy="246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segmentation field already exists in the table. The cost of the current approach is invisible — it shows up as mediocre average acceptance, not a line item. Which is exactly why segment-level analysis is worth running before the next campaign ships.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238250" y="7970937"/>
            <a:ext cx="15811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238250" y="8282087"/>
            <a:ext cx="171656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0E1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David Kamande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3217863" y="8282087"/>
            <a:ext cx="343301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· Tableau Public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6757889" y="8282087"/>
            <a:ext cx="330095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· github.com/ngatho1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735</Words>
  <Application>Microsoft Office PowerPoint</Application>
  <PresentationFormat>Custom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Kamande</cp:lastModifiedBy>
  <cp:revision>2</cp:revision>
  <dcterms:created xsi:type="dcterms:W3CDTF">2026-07-04T12:20:33Z</dcterms:created>
  <dcterms:modified xsi:type="dcterms:W3CDTF">2026-07-09T01:09:29Z</dcterms:modified>
</cp:coreProperties>
</file>